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badb08bf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dbadb08bf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take the video and transcribe , and break it into specific data points → save in a relational database, or parent child retriever (video is the whole content, parts of it can be used for chunking..) </a:t>
            </a:r>
            <a:br>
              <a:rPr lang="en"/>
            </a:br>
            <a:br>
              <a:rPr lang="en"/>
            </a:br>
            <a:r>
              <a:rPr lang="en"/>
              <a:t>JSON - exercise, no of reps (etc from mediapipe) → costs less for LLM to process, or written out paragraphs from m</a:t>
            </a:r>
            <a:br>
              <a:rPr lang="en"/>
            </a:br>
            <a:br>
              <a:rPr lang="en"/>
            </a:br>
            <a:r>
              <a:rPr lang="en"/>
              <a:t>Hybrid retrieval → </a:t>
            </a:r>
            <a:r>
              <a:rPr b="1" lang="en"/>
              <a:t>Qdrant</a:t>
            </a:r>
            <a:r>
              <a:rPr lang="en"/>
              <a:t> (chunks → hybrid search on its own, sparse for exact match like “squat”, dont have to store it in vector DB)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4740849" y="3608303"/>
            <a:ext cx="1455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/>
        </p:nvSpPr>
        <p:spPr>
          <a:xfrm>
            <a:off x="6032028" y="18425"/>
            <a:ext cx="361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chemeClr val="accent6"/>
                </a:highlight>
              </a:rPr>
              <a:t>Questions for Mentor. Date 3-May-2026 </a:t>
            </a:r>
            <a:endParaRPr sz="13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133200" y="64200"/>
            <a:ext cx="596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Question: Should we use Vector database for this (RAG) or use a </a:t>
            </a:r>
            <a:r>
              <a:rPr lang="en">
                <a:solidFill>
                  <a:schemeClr val="dk2"/>
                </a:solidFill>
              </a:rPr>
              <a:t>structured database or hybrid?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238775" y="993454"/>
            <a:ext cx="10944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When </a:t>
            </a:r>
            <a:r>
              <a:rPr lang="en" sz="1200"/>
              <a:t>User Uploads Video</a:t>
            </a:r>
            <a:endParaRPr sz="1200"/>
          </a:p>
        </p:txBody>
      </p:sp>
      <p:sp>
        <p:nvSpPr>
          <p:cNvPr id="59" name="Google Shape;59;p14"/>
          <p:cNvSpPr/>
          <p:nvPr/>
        </p:nvSpPr>
        <p:spPr>
          <a:xfrm>
            <a:off x="1661175" y="993454"/>
            <a:ext cx="10944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Hosted in S3 Bucket</a:t>
            </a:r>
            <a:endParaRPr sz="1200"/>
          </a:p>
        </p:txBody>
      </p:sp>
      <p:sp>
        <p:nvSpPr>
          <p:cNvPr id="60" name="Google Shape;60;p14"/>
          <p:cNvSpPr/>
          <p:nvPr/>
        </p:nvSpPr>
        <p:spPr>
          <a:xfrm>
            <a:off x="3280200" y="769329"/>
            <a:ext cx="12918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Passed through Mediapipe to get x,y,z  </a:t>
            </a:r>
            <a:endParaRPr sz="1000"/>
          </a:p>
        </p:txBody>
      </p:sp>
      <p:sp>
        <p:nvSpPr>
          <p:cNvPr id="61" name="Google Shape;61;p14"/>
          <p:cNvSpPr/>
          <p:nvPr/>
        </p:nvSpPr>
        <p:spPr>
          <a:xfrm>
            <a:off x="7941700" y="1096275"/>
            <a:ext cx="1094400" cy="8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LLM (Claude Sonnet 4.6) for Reasoning &amp; Coaching</a:t>
            </a:r>
            <a:endParaRPr sz="1000"/>
          </a:p>
        </p:txBody>
      </p:sp>
      <p:sp>
        <p:nvSpPr>
          <p:cNvPr id="62" name="Google Shape;62;p14"/>
          <p:cNvSpPr/>
          <p:nvPr/>
        </p:nvSpPr>
        <p:spPr>
          <a:xfrm>
            <a:off x="4740225" y="769329"/>
            <a:ext cx="1291800" cy="6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Python </a:t>
            </a:r>
            <a:r>
              <a:rPr lang="en" sz="1000"/>
              <a:t>Script to convert Mediapipe out to Biomechanics data </a:t>
            </a:r>
            <a:endParaRPr sz="1000"/>
          </a:p>
        </p:txBody>
      </p:sp>
      <p:sp>
        <p:nvSpPr>
          <p:cNvPr id="63" name="Google Shape;63;p14"/>
          <p:cNvSpPr txBox="1"/>
          <p:nvPr/>
        </p:nvSpPr>
        <p:spPr>
          <a:xfrm>
            <a:off x="7909375" y="1802379"/>
            <a:ext cx="116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highlight>
                  <a:schemeClr val="accent6"/>
                </a:highlight>
              </a:rPr>
              <a:t>Should we only pass biomechanics/ text into LLM or </a:t>
            </a:r>
            <a:r>
              <a:rPr b="1" lang="en" sz="900">
                <a:solidFill>
                  <a:schemeClr val="dk2"/>
                </a:solidFill>
                <a:highlight>
                  <a:schemeClr val="accent6"/>
                </a:highlight>
              </a:rPr>
              <a:t>pass the video uploaded as well? </a:t>
            </a:r>
            <a:endParaRPr b="1" sz="9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367375" y="2833454"/>
            <a:ext cx="16512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Save in a Vector Database/Regular DB</a:t>
            </a:r>
            <a:endParaRPr sz="1000"/>
          </a:p>
        </p:txBody>
      </p:sp>
      <p:sp>
        <p:nvSpPr>
          <p:cNvPr id="65" name="Google Shape;65;p14"/>
          <p:cNvSpPr txBox="1"/>
          <p:nvPr/>
        </p:nvSpPr>
        <p:spPr>
          <a:xfrm>
            <a:off x="130575" y="2343199"/>
            <a:ext cx="152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280200" y="1436710"/>
            <a:ext cx="12918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Gemini 3.1 Pro for </a:t>
            </a:r>
            <a:r>
              <a:rPr lang="en" sz="1000"/>
              <a:t>video</a:t>
            </a:r>
            <a:r>
              <a:rPr lang="en" sz="1000"/>
              <a:t> analysis (</a:t>
            </a:r>
            <a:r>
              <a:rPr i="1" lang="en" sz="800"/>
              <a:t>text </a:t>
            </a:r>
            <a:r>
              <a:rPr i="1" lang="en" sz="800"/>
              <a:t>output such as 10 reps, shoulder rounded</a:t>
            </a:r>
            <a:r>
              <a:rPr i="1" lang="en" sz="800"/>
              <a:t>)</a:t>
            </a:r>
            <a:endParaRPr i="1" sz="800"/>
          </a:p>
        </p:txBody>
      </p:sp>
      <p:sp>
        <p:nvSpPr>
          <p:cNvPr id="67" name="Google Shape;67;p14"/>
          <p:cNvSpPr/>
          <p:nvPr/>
        </p:nvSpPr>
        <p:spPr>
          <a:xfrm>
            <a:off x="6481682" y="1059229"/>
            <a:ext cx="1094400" cy="88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/>
              <a:t>Save record : </a:t>
            </a:r>
            <a:r>
              <a:rPr lang="en" sz="1000"/>
              <a:t>S3, processed Mediapipe, processed video analysis </a:t>
            </a:r>
            <a:endParaRPr sz="1000"/>
          </a:p>
        </p:txBody>
      </p:sp>
      <p:cxnSp>
        <p:nvCxnSpPr>
          <p:cNvPr id="68" name="Google Shape;68;p14"/>
          <p:cNvCxnSpPr>
            <a:stCxn id="58" idx="3"/>
            <a:endCxn id="59" idx="1"/>
          </p:cNvCxnSpPr>
          <p:nvPr/>
        </p:nvCxnSpPr>
        <p:spPr>
          <a:xfrm>
            <a:off x="1333175" y="1276954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4"/>
          <p:cNvCxnSpPr>
            <a:stCxn id="58" idx="3"/>
            <a:endCxn id="59" idx="1"/>
          </p:cNvCxnSpPr>
          <p:nvPr/>
        </p:nvCxnSpPr>
        <p:spPr>
          <a:xfrm>
            <a:off x="1333175" y="1276954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4"/>
          <p:cNvCxnSpPr/>
          <p:nvPr/>
        </p:nvCxnSpPr>
        <p:spPr>
          <a:xfrm>
            <a:off x="4580338" y="1136929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>
            <a:stCxn id="59" idx="3"/>
          </p:cNvCxnSpPr>
          <p:nvPr/>
        </p:nvCxnSpPr>
        <p:spPr>
          <a:xfrm>
            <a:off x="2755575" y="1276954"/>
            <a:ext cx="2421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" name="Google Shape;72;p14"/>
          <p:cNvCxnSpPr/>
          <p:nvPr/>
        </p:nvCxnSpPr>
        <p:spPr>
          <a:xfrm>
            <a:off x="2998500" y="993009"/>
            <a:ext cx="8400" cy="66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" name="Google Shape;73;p14"/>
          <p:cNvCxnSpPr/>
          <p:nvPr/>
        </p:nvCxnSpPr>
        <p:spPr>
          <a:xfrm>
            <a:off x="2997675" y="993454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/>
          <p:nvPr/>
        </p:nvCxnSpPr>
        <p:spPr>
          <a:xfrm>
            <a:off x="2997675" y="1662304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4"/>
          <p:cNvCxnSpPr/>
          <p:nvPr/>
        </p:nvCxnSpPr>
        <p:spPr>
          <a:xfrm>
            <a:off x="4571925" y="1804254"/>
            <a:ext cx="17034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4"/>
          <p:cNvCxnSpPr/>
          <p:nvPr/>
        </p:nvCxnSpPr>
        <p:spPr>
          <a:xfrm>
            <a:off x="6032025" y="1134529"/>
            <a:ext cx="224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4"/>
          <p:cNvCxnSpPr/>
          <p:nvPr/>
        </p:nvCxnSpPr>
        <p:spPr>
          <a:xfrm>
            <a:off x="6256688" y="1134534"/>
            <a:ext cx="300" cy="73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4"/>
          <p:cNvCxnSpPr/>
          <p:nvPr/>
        </p:nvCxnSpPr>
        <p:spPr>
          <a:xfrm>
            <a:off x="6238225" y="1469392"/>
            <a:ext cx="224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4"/>
          <p:cNvCxnSpPr/>
          <p:nvPr/>
        </p:nvCxnSpPr>
        <p:spPr>
          <a:xfrm flipH="1" rot="10800000">
            <a:off x="7576075" y="1456804"/>
            <a:ext cx="3333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4"/>
          <p:cNvSpPr/>
          <p:nvPr/>
        </p:nvSpPr>
        <p:spPr>
          <a:xfrm>
            <a:off x="344475" y="2434599"/>
            <a:ext cx="1094400" cy="48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20-30 Squat Videos </a:t>
            </a:r>
            <a:endParaRPr sz="1200"/>
          </a:p>
        </p:txBody>
      </p:sp>
      <p:sp>
        <p:nvSpPr>
          <p:cNvPr id="81" name="Google Shape;81;p14"/>
          <p:cNvSpPr/>
          <p:nvPr/>
        </p:nvSpPr>
        <p:spPr>
          <a:xfrm>
            <a:off x="344475" y="3231274"/>
            <a:ext cx="10944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10-20 Form Tutorial videos </a:t>
            </a:r>
            <a:endParaRPr sz="1200"/>
          </a:p>
        </p:txBody>
      </p:sp>
      <p:sp>
        <p:nvSpPr>
          <p:cNvPr id="82" name="Google Shape;82;p14"/>
          <p:cNvSpPr/>
          <p:nvPr/>
        </p:nvSpPr>
        <p:spPr>
          <a:xfrm>
            <a:off x="344475" y="4019649"/>
            <a:ext cx="1094400" cy="32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Images</a:t>
            </a:r>
            <a:endParaRPr sz="1200"/>
          </a:p>
        </p:txBody>
      </p:sp>
      <p:pic>
        <p:nvPicPr>
          <p:cNvPr descr="Move of the Month: Goblet Squat — Craftsbury Outdoor Center" id="83" name="Google Shape;8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200" y="3304054"/>
            <a:ext cx="1291801" cy="969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" name="Google Shape;84;p14"/>
          <p:cNvCxnSpPr/>
          <p:nvPr/>
        </p:nvCxnSpPr>
        <p:spPr>
          <a:xfrm>
            <a:off x="1599125" y="2413482"/>
            <a:ext cx="187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" name="Google Shape;85;p14"/>
          <p:cNvSpPr/>
          <p:nvPr/>
        </p:nvSpPr>
        <p:spPr>
          <a:xfrm>
            <a:off x="1767778" y="2123484"/>
            <a:ext cx="12918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Passed through Mediapipe to get x,y,z  </a:t>
            </a:r>
            <a:endParaRPr sz="1000"/>
          </a:p>
        </p:txBody>
      </p:sp>
      <p:sp>
        <p:nvSpPr>
          <p:cNvPr id="86" name="Google Shape;86;p14"/>
          <p:cNvSpPr/>
          <p:nvPr/>
        </p:nvSpPr>
        <p:spPr>
          <a:xfrm>
            <a:off x="3340725" y="2166113"/>
            <a:ext cx="1349400" cy="73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Python Script to convert Mediapipe out to Biomechanics data (E.g </a:t>
            </a:r>
            <a:r>
              <a:rPr i="1" lang="en" sz="700">
                <a:solidFill>
                  <a:schemeClr val="dk2"/>
                </a:solidFill>
              </a:rPr>
              <a:t>Knee ANgle - 90%, Time taken to go down = 3 sec etc)</a:t>
            </a:r>
            <a:r>
              <a:rPr lang="en" sz="900"/>
              <a:t> </a:t>
            </a:r>
            <a:endParaRPr sz="900"/>
          </a:p>
        </p:txBody>
      </p:sp>
      <p:cxnSp>
        <p:nvCxnSpPr>
          <p:cNvPr id="87" name="Google Shape;87;p14"/>
          <p:cNvCxnSpPr/>
          <p:nvPr/>
        </p:nvCxnSpPr>
        <p:spPr>
          <a:xfrm>
            <a:off x="3059575" y="2460857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4"/>
          <p:cNvCxnSpPr/>
          <p:nvPr/>
        </p:nvCxnSpPr>
        <p:spPr>
          <a:xfrm flipH="1" rot="10800000">
            <a:off x="4690125" y="2533163"/>
            <a:ext cx="350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4"/>
          <p:cNvCxnSpPr/>
          <p:nvPr/>
        </p:nvCxnSpPr>
        <p:spPr>
          <a:xfrm flipH="1">
            <a:off x="1599125" y="2413478"/>
            <a:ext cx="8400" cy="53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4"/>
          <p:cNvSpPr/>
          <p:nvPr/>
        </p:nvSpPr>
        <p:spPr>
          <a:xfrm>
            <a:off x="1767775" y="2748032"/>
            <a:ext cx="12918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Sam 3 model for video analysis (</a:t>
            </a:r>
            <a:r>
              <a:rPr i="1" lang="en" sz="800">
                <a:solidFill>
                  <a:schemeClr val="dk1"/>
                </a:solidFill>
              </a:rPr>
              <a:t>text output e.g 10 reps, shoulder rounded)</a:t>
            </a:r>
            <a:endParaRPr sz="1000"/>
          </a:p>
        </p:txBody>
      </p:sp>
      <p:cxnSp>
        <p:nvCxnSpPr>
          <p:cNvPr id="91" name="Google Shape;91;p14"/>
          <p:cNvCxnSpPr/>
          <p:nvPr/>
        </p:nvCxnSpPr>
        <p:spPr>
          <a:xfrm>
            <a:off x="1439375" y="3572319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4"/>
          <p:cNvCxnSpPr/>
          <p:nvPr/>
        </p:nvCxnSpPr>
        <p:spPr>
          <a:xfrm>
            <a:off x="2997675" y="3039401"/>
            <a:ext cx="20355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" name="Google Shape;93;p14"/>
          <p:cNvCxnSpPr/>
          <p:nvPr/>
        </p:nvCxnSpPr>
        <p:spPr>
          <a:xfrm>
            <a:off x="1602113" y="2911397"/>
            <a:ext cx="187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4"/>
          <p:cNvCxnSpPr/>
          <p:nvPr/>
        </p:nvCxnSpPr>
        <p:spPr>
          <a:xfrm>
            <a:off x="1434575" y="2729986"/>
            <a:ext cx="1767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4"/>
          <p:cNvCxnSpPr/>
          <p:nvPr/>
        </p:nvCxnSpPr>
        <p:spPr>
          <a:xfrm>
            <a:off x="5028588" y="2533159"/>
            <a:ext cx="14100" cy="172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4"/>
          <p:cNvSpPr/>
          <p:nvPr/>
        </p:nvSpPr>
        <p:spPr>
          <a:xfrm>
            <a:off x="1767775" y="3363224"/>
            <a:ext cx="1239000" cy="43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Audio </a:t>
            </a:r>
            <a:r>
              <a:rPr lang="en" sz="1000"/>
              <a:t>transcription to text (good form)</a:t>
            </a:r>
            <a:endParaRPr sz="1000"/>
          </a:p>
        </p:txBody>
      </p:sp>
      <p:cxnSp>
        <p:nvCxnSpPr>
          <p:cNvPr id="97" name="Google Shape;97;p14"/>
          <p:cNvCxnSpPr/>
          <p:nvPr/>
        </p:nvCxnSpPr>
        <p:spPr>
          <a:xfrm>
            <a:off x="2997675" y="3569476"/>
            <a:ext cx="20355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" name="Google Shape;98;p14"/>
          <p:cNvSpPr/>
          <p:nvPr/>
        </p:nvSpPr>
        <p:spPr>
          <a:xfrm>
            <a:off x="1767775" y="3934924"/>
            <a:ext cx="1239000" cy="43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Gemini Flash </a:t>
            </a:r>
            <a:r>
              <a:rPr i="1" lang="en" sz="800"/>
              <a:t>(form image &amp; text)</a:t>
            </a:r>
            <a:endParaRPr i="1" sz="800"/>
          </a:p>
        </p:txBody>
      </p:sp>
      <p:cxnSp>
        <p:nvCxnSpPr>
          <p:cNvPr id="99" name="Google Shape;99;p14"/>
          <p:cNvCxnSpPr/>
          <p:nvPr/>
        </p:nvCxnSpPr>
        <p:spPr>
          <a:xfrm>
            <a:off x="1439375" y="4181194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4"/>
          <p:cNvCxnSpPr/>
          <p:nvPr/>
        </p:nvCxnSpPr>
        <p:spPr>
          <a:xfrm>
            <a:off x="2997675" y="4116351"/>
            <a:ext cx="20355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4"/>
          <p:cNvCxnSpPr/>
          <p:nvPr/>
        </p:nvCxnSpPr>
        <p:spPr>
          <a:xfrm>
            <a:off x="5028588" y="3231679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" name="Google Shape;102;p14"/>
          <p:cNvCxnSpPr>
            <a:stCxn id="64" idx="3"/>
          </p:cNvCxnSpPr>
          <p:nvPr/>
        </p:nvCxnSpPr>
        <p:spPr>
          <a:xfrm>
            <a:off x="7018575" y="3116954"/>
            <a:ext cx="7041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" name="Google Shape;103;p14"/>
          <p:cNvCxnSpPr/>
          <p:nvPr/>
        </p:nvCxnSpPr>
        <p:spPr>
          <a:xfrm rot="10800000">
            <a:off x="7714975" y="1456804"/>
            <a:ext cx="1200" cy="166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4"/>
          <p:cNvSpPr txBox="1"/>
          <p:nvPr/>
        </p:nvSpPr>
        <p:spPr>
          <a:xfrm>
            <a:off x="3221925" y="3039419"/>
            <a:ext cx="148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highlight>
                  <a:schemeClr val="accent6"/>
                </a:highlight>
              </a:rPr>
              <a:t>If just good tips are saved </a:t>
            </a:r>
            <a:r>
              <a:rPr lang="en" sz="900">
                <a:solidFill>
                  <a:schemeClr val="dk2"/>
                </a:solidFill>
                <a:highlight>
                  <a:schemeClr val="accent6"/>
                </a:highlight>
              </a:rPr>
              <a:t>without</a:t>
            </a:r>
            <a:r>
              <a:rPr lang="en" sz="900">
                <a:solidFill>
                  <a:schemeClr val="dk2"/>
                </a:solidFill>
                <a:highlight>
                  <a:schemeClr val="accent6"/>
                </a:highlight>
              </a:rPr>
              <a:t> reference image/video, can the LLM reason if that user’s video (knee angle etc) has good form?</a:t>
            </a:r>
            <a:endParaRPr b="1" sz="9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cxnSp>
        <p:nvCxnSpPr>
          <p:cNvPr id="105" name="Google Shape;105;p14"/>
          <p:cNvCxnSpPr/>
          <p:nvPr/>
        </p:nvCxnSpPr>
        <p:spPr>
          <a:xfrm>
            <a:off x="140075" y="2054404"/>
            <a:ext cx="8759400" cy="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6" name="Google Shape;106;p14"/>
          <p:cNvSpPr txBox="1"/>
          <p:nvPr/>
        </p:nvSpPr>
        <p:spPr>
          <a:xfrm>
            <a:off x="5451975" y="3389729"/>
            <a:ext cx="1897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highlight>
                  <a:schemeClr val="accent6"/>
                </a:highlight>
              </a:rPr>
              <a:t>Some data are structured (e.g knee angle, some are unstructured e.g image, audio transcription)  -- Do we need just vector DB or hybroed of vector + regular?</a:t>
            </a:r>
            <a:endParaRPr b="1" sz="9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3275" y="542304"/>
            <a:ext cx="537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End to End Pipeline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73275" y="1940399"/>
            <a:ext cx="16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RAG/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09" name="Google Shape;109;p14"/>
          <p:cNvCxnSpPr/>
          <p:nvPr/>
        </p:nvCxnSpPr>
        <p:spPr>
          <a:xfrm>
            <a:off x="140075" y="4440179"/>
            <a:ext cx="8759400" cy="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73275" y="4440174"/>
            <a:ext cx="16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User Data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1384000" y="4519725"/>
            <a:ext cx="10944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Onboarding (e.g Past injury) </a:t>
            </a:r>
            <a:endParaRPr sz="1200"/>
          </a:p>
        </p:txBody>
      </p:sp>
      <p:sp>
        <p:nvSpPr>
          <p:cNvPr id="112" name="Google Shape;112;p14"/>
          <p:cNvSpPr/>
          <p:nvPr/>
        </p:nvSpPr>
        <p:spPr>
          <a:xfrm>
            <a:off x="2568300" y="4519725"/>
            <a:ext cx="10944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Weight input by user (for current video)</a:t>
            </a:r>
            <a:endParaRPr sz="1200"/>
          </a:p>
        </p:txBody>
      </p:sp>
      <p:sp>
        <p:nvSpPr>
          <p:cNvPr id="113" name="Google Shape;113;p14"/>
          <p:cNvSpPr/>
          <p:nvPr/>
        </p:nvSpPr>
        <p:spPr>
          <a:xfrm>
            <a:off x="3752600" y="4519725"/>
            <a:ext cx="10944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Past form analysis </a:t>
            </a:r>
            <a:r>
              <a:rPr lang="en" sz="900">
                <a:solidFill>
                  <a:schemeClr val="dk2"/>
                </a:solidFill>
              </a:rPr>
              <a:t>score</a:t>
            </a:r>
            <a:r>
              <a:rPr lang="en" sz="900">
                <a:solidFill>
                  <a:schemeClr val="dk2"/>
                </a:solidFill>
              </a:rPr>
              <a:t>, insights</a:t>
            </a:r>
            <a:endParaRPr sz="1200"/>
          </a:p>
        </p:txBody>
      </p:sp>
      <p:sp>
        <p:nvSpPr>
          <p:cNvPr id="114" name="Google Shape;114;p14"/>
          <p:cNvSpPr/>
          <p:nvPr/>
        </p:nvSpPr>
        <p:spPr>
          <a:xfrm>
            <a:off x="5451975" y="4484125"/>
            <a:ext cx="12918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Save in a structured DB</a:t>
            </a:r>
            <a:endParaRPr sz="1000"/>
          </a:p>
        </p:txBody>
      </p:sp>
      <p:cxnSp>
        <p:nvCxnSpPr>
          <p:cNvPr id="115" name="Google Shape;115;p14"/>
          <p:cNvCxnSpPr>
            <a:endCxn id="114" idx="1"/>
          </p:cNvCxnSpPr>
          <p:nvPr/>
        </p:nvCxnSpPr>
        <p:spPr>
          <a:xfrm>
            <a:off x="4871775" y="4767625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4"/>
          <p:cNvCxnSpPr/>
          <p:nvPr/>
        </p:nvCxnSpPr>
        <p:spPr>
          <a:xfrm>
            <a:off x="6743775" y="4767629"/>
            <a:ext cx="11469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4"/>
          <p:cNvCxnSpPr/>
          <p:nvPr/>
        </p:nvCxnSpPr>
        <p:spPr>
          <a:xfrm rot="10800000">
            <a:off x="7855075" y="1426850"/>
            <a:ext cx="26400" cy="334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